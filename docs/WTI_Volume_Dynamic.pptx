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0"/>
    <p:restoredTop sz="94694"/>
  </p:normalViewPr>
  <p:slideViewPr>
    <p:cSldViewPr snapToGrid="0">
      <p:cViewPr varScale="1">
        <p:scale>
          <a:sx n="91" d="100"/>
          <a:sy n="9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D91B-6615-0089-0407-F8EDB847D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DA00E-84EF-2CD7-DE67-54FB963F5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164F-A789-0D04-EB87-4681F258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0AA3C-C0A2-22BB-743E-ED0502C7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C1332-3E45-F530-34F5-E8F7E7F6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5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ECCA-13AE-9716-1956-A1870983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DF097-5C2D-C3BE-6454-285F3ECFE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8CD18-E7F2-DE51-20A3-A4F79A77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29B2-DAF6-500D-D6EA-70B9BDDD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EBCC4-E419-962C-3BAF-94098867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0FF6-AAD9-7D80-88FC-523C2BC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448E8-2A63-B787-07E1-64131833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16DBB-7AF8-08E2-1393-A80D5CE0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FFC86-19A8-5768-F05D-00AABF1F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F3A34-34E2-C8E4-05A7-30CFB233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76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A6D5-2833-063A-4A7E-C11C21230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AFD8A-4318-7FA4-E7F3-066F6830C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18C6E-9F96-2DE3-1D85-BC7487977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81062A-BB1E-2B75-C0AD-901562F33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2B8C1-74F8-1D77-8CE4-893DE040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61EBB-F5BB-7CF9-77FC-8D69E2F3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8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BC02-FC16-1CDA-D327-8D2200715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6E3F1-94A3-8A82-9215-46395CA6D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A1C80-D1FC-886C-14B5-5896D1BA9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7C7E6-C2AF-DBD5-83D6-7AA804C8A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9C043C-D726-14CE-707B-ABFD173EC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AAEAD-D4F0-E256-8EFD-D28CD1FB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A7FC0-972E-AE32-C598-DF96A57C4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B2FD2-4EAA-6396-2E2B-29582025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D710-A57C-1A3D-1E4D-6E07109B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FCE3C-E0AB-FD59-3197-6159F6CC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29B1A-819A-21FC-2C38-6A2B2C343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0BB7F-98E0-6668-8969-73119BE7B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8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ACD412-C6D5-3791-30ED-02ECE0B0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F201B-079F-8349-0A71-775FC296E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0EA67-A93D-A9FB-F4CD-D1D59837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03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C639-EB45-4094-986B-E1B15693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1A8C-CDCD-6A58-2EDE-F634383A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5A55F-6B9D-7B1C-47A9-95D5F7059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4A8EA-D9ED-260C-6826-EAA0B54F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8799-D604-BCB2-E2E3-AB21CD39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E9A07-584B-CA6A-C7C9-1987FEA39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69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C6EB-ED12-B9C3-A321-22E05391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E7227-DA33-E5CD-0A3D-5363C2229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D0CF5-EA02-C4A2-3696-AECE65660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100F-F574-2117-339E-05FF03ECB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98B9C-D7DA-664F-52ED-21A996D2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38582-06E1-6F35-D16E-C2E3218B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4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F7CE-7549-0727-0685-C688188D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5200B-5F0C-3252-70BF-94BBD3EC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44A14-A2F9-2516-7BC8-5D17B8835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7060-C195-20E4-CA12-65B046592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9F94-5B01-36E4-98E2-49B95504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6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64D757-C724-E45E-4573-B7173B270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6D427-2B28-F698-BDB2-F1EA49A60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2A500-329F-33C5-29B8-77EDC5E7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C60AA-167B-1A9A-C50C-7360DEDC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B75BE-A270-9597-FC9E-75AD2D44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6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D8DD6-4625-6C2F-61CE-7327D01E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E3022-56B0-2308-DF9E-98E6E7975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7D42C-DA95-ACED-9488-3AF0DEC3F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FB08D-4317-B64B-92E3-5325B0FD4EA8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DEB6F-783F-94E5-04FB-39326F64E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613E8-E4A1-9FC5-97FB-0586C01EE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E19C3-E190-1541-87DF-587C67C520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C505-ED44-13C0-023B-7946A2AA39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WTI Volume Dynamic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84624-C8EC-3C82-F90E-61E835B94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ECFD7-019C-30CF-9D2C-B459F0095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9065" cy="513546"/>
          </a:xfrm>
        </p:spPr>
        <p:txBody>
          <a:bodyPr>
            <a:normAutofit fontScale="90000"/>
          </a:bodyPr>
          <a:lstStyle/>
          <a:p>
            <a:r>
              <a:rPr lang="en-US" dirty="0"/>
              <a:t>F-1 WTI Volume Profile - Index Roll Cycles?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5E8F6-A67C-C678-C3DF-869B4266B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6" y="4103053"/>
            <a:ext cx="4278929" cy="1941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A surge in volume tends to be followed, about three weeks later, by a </a:t>
            </a:r>
            <a:r>
              <a:rPr lang="en-US" sz="1800" i="1" dirty="0">
                <a:solidFill>
                  <a:srgbClr val="FF0000"/>
                </a:solidFill>
              </a:rPr>
              <a:t>cooldown or drop off</a:t>
            </a:r>
            <a:r>
              <a:rPr lang="en-US" sz="1800" dirty="0"/>
              <a:t>. It's like the market gets active leading into a specific period, then steps back, possibly after positions are rolled or adjusted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2E6D6-0928-0FD1-1DAF-0842DBFF9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548" y="878671"/>
            <a:ext cx="7772400" cy="57759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AE2C34-B3CA-0DD1-39F2-C842E994DB31}"/>
              </a:ext>
            </a:extLst>
          </p:cNvPr>
          <p:cNvSpPr/>
          <p:nvPr/>
        </p:nvSpPr>
        <p:spPr>
          <a:xfrm>
            <a:off x="8248360" y="849970"/>
            <a:ext cx="628357" cy="2916660"/>
          </a:xfrm>
          <a:prstGeom prst="rect">
            <a:avLst/>
          </a:prstGeom>
          <a:solidFill>
            <a:schemeClr val="accent2">
              <a:lumMod val="40000"/>
              <a:lumOff val="60000"/>
              <a:alpha val="3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99A7E2-26CC-DBBF-A708-F595424BAED7}"/>
              </a:ext>
            </a:extLst>
          </p:cNvPr>
          <p:cNvSpPr/>
          <p:nvPr/>
        </p:nvSpPr>
        <p:spPr>
          <a:xfrm>
            <a:off x="7620003" y="3545063"/>
            <a:ext cx="628357" cy="3244463"/>
          </a:xfrm>
          <a:prstGeom prst="rect">
            <a:avLst/>
          </a:prstGeom>
          <a:solidFill>
            <a:schemeClr val="accent2">
              <a:lumMod val="40000"/>
              <a:lumOff val="60000"/>
              <a:alpha val="3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C45599-550D-D9DF-B457-D97103AE4AE6}"/>
              </a:ext>
            </a:extLst>
          </p:cNvPr>
          <p:cNvSpPr txBox="1">
            <a:spLocks/>
          </p:cNvSpPr>
          <p:nvPr/>
        </p:nvSpPr>
        <p:spPr>
          <a:xfrm>
            <a:off x="0" y="1337797"/>
            <a:ext cx="4278929" cy="19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/>
              <a:t>It seems there is a </a:t>
            </a:r>
            <a:r>
              <a:rPr lang="en-US" sz="1800" i="1" dirty="0">
                <a:solidFill>
                  <a:srgbClr val="FF0000"/>
                </a:solidFill>
              </a:rPr>
              <a:t>recurring monthly rhythm</a:t>
            </a:r>
            <a:r>
              <a:rPr lang="en-US" sz="1800" dirty="0"/>
              <a:t> in volume behavior, roughly every 20 to 23 trading days, there's a noticeable pickup in trading activity.</a:t>
            </a:r>
          </a:p>
        </p:txBody>
      </p:sp>
    </p:spTree>
    <p:extLst>
      <p:ext uri="{BB962C8B-B14F-4D97-AF65-F5344CB8AC3E}">
        <p14:creationId xmlns:p14="http://schemas.microsoft.com/office/powerpoint/2010/main" val="1240876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92B0-2DD4-2C91-0C0F-82EDCE6B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1964FF-F540-EB8F-D51B-B283D5DAE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415" y="960220"/>
            <a:ext cx="7772400" cy="56128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14BBD-5623-1A5F-266A-3C28930A9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9065" cy="513546"/>
          </a:xfrm>
        </p:spPr>
        <p:txBody>
          <a:bodyPr>
            <a:normAutofit fontScale="90000"/>
          </a:bodyPr>
          <a:lstStyle/>
          <a:p>
            <a:r>
              <a:rPr lang="en-US" dirty="0"/>
              <a:t>F-2 WTI Volume Profile - Index Roll Cycles?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4C44E-B94D-D618-D20F-69852F29A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6" y="4103053"/>
            <a:ext cx="4278929" cy="1941005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This again reinforces the idea of a roll effect: </a:t>
            </a:r>
            <a:r>
              <a:rPr lang="en-US" sz="1800" i="1" dirty="0">
                <a:solidFill>
                  <a:srgbClr val="FF0000"/>
                </a:solidFill>
              </a:rPr>
              <a:t>market builds up, spikes, then corrects.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A6D583-7D08-713D-A213-10D053690B22}"/>
              </a:ext>
            </a:extLst>
          </p:cNvPr>
          <p:cNvSpPr/>
          <p:nvPr/>
        </p:nvSpPr>
        <p:spPr>
          <a:xfrm>
            <a:off x="8248360" y="849970"/>
            <a:ext cx="628357" cy="2916660"/>
          </a:xfrm>
          <a:prstGeom prst="rect">
            <a:avLst/>
          </a:prstGeom>
          <a:solidFill>
            <a:schemeClr val="accent2">
              <a:lumMod val="40000"/>
              <a:lumOff val="60000"/>
              <a:alpha val="3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BAA11D-93F0-4F1E-EB5C-014052058CD0}"/>
              </a:ext>
            </a:extLst>
          </p:cNvPr>
          <p:cNvSpPr/>
          <p:nvPr/>
        </p:nvSpPr>
        <p:spPr>
          <a:xfrm>
            <a:off x="7662207" y="3545063"/>
            <a:ext cx="628357" cy="3244463"/>
          </a:xfrm>
          <a:prstGeom prst="rect">
            <a:avLst/>
          </a:prstGeom>
          <a:solidFill>
            <a:schemeClr val="accent2">
              <a:lumMod val="40000"/>
              <a:lumOff val="60000"/>
              <a:alpha val="3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108CF0-EA72-7D9B-ED73-4683E471CB6A}"/>
              </a:ext>
            </a:extLst>
          </p:cNvPr>
          <p:cNvSpPr txBox="1">
            <a:spLocks/>
          </p:cNvSpPr>
          <p:nvPr/>
        </p:nvSpPr>
        <p:spPr>
          <a:xfrm>
            <a:off x="0" y="1337797"/>
            <a:ext cx="4278929" cy="1941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/>
              <a:t>This points to a recurring pattern every 20 to 23 trading days in volume changes which is highly consistent </a:t>
            </a:r>
            <a:r>
              <a:rPr lang="en-US" sz="1800" i="1" dirty="0">
                <a:solidFill>
                  <a:srgbClr val="FF0000"/>
                </a:solidFill>
              </a:rPr>
              <a:t>with monthly index roll behavior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9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E837-5096-F84B-4E45-A95545C5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111908"/>
            <a:ext cx="10515600" cy="774358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961C-EA49-5449-415C-029B81F93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830" y="886266"/>
            <a:ext cx="10515600" cy="4351338"/>
          </a:xfrm>
        </p:spPr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ACF vs PACF: What They Measure</a:t>
            </a:r>
          </a:p>
          <a:p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4FAB180-8640-F6A1-69AE-460766017E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7790329"/>
              </p:ext>
            </p:extLst>
          </p:nvPr>
        </p:nvGraphicFramePr>
        <p:xfrm>
          <a:off x="1330570" y="1964655"/>
          <a:ext cx="9356188" cy="2194560"/>
        </p:xfrm>
        <a:graphic>
          <a:graphicData uri="http://schemas.openxmlformats.org/drawingml/2006/table">
            <a:tbl>
              <a:tblPr/>
              <a:tblGrid>
                <a:gridCol w="2345788">
                  <a:extLst>
                    <a:ext uri="{9D8B030D-6E8A-4147-A177-3AD203B41FA5}">
                      <a16:colId xmlns:a16="http://schemas.microsoft.com/office/drawing/2014/main" val="38520028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8216811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7643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Interpretation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042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ACF (Autocorrelation Function)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Total correlation between a variable and its past values at different 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Captures direct + indirect effects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5475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PACF (Partial Autocorrelation Function)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Correlation between the variable and a lag, removing the effects of intermediate lags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Captures pure/direct influence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26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121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196</Words>
  <Application>Microsoft Macintosh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WTI Volume Dynamic</vt:lpstr>
      <vt:lpstr>F-1 WTI Volume Profile - Index Roll Cycles?</vt:lpstr>
      <vt:lpstr>F-2 WTI Volume Profile - Index Roll Cycles?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2025-07-17T17:08:00Z</dcterms:created>
  <dcterms:modified xsi:type="dcterms:W3CDTF">2025-07-17T17:41:56Z</dcterms:modified>
</cp:coreProperties>
</file>